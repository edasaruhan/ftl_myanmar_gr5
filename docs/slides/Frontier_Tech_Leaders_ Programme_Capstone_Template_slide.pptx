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Helvetica Neue"/>
      <p:regular r:id="rId31"/>
      <p:bold r:id="rId32"/>
      <p:italic r:id="rId33"/>
      <p:boldItalic r:id="rId34"/>
    </p:embeddedFont>
    <p:embeddedFont>
      <p:font typeface="Helvetica Neue 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gWbG+dYURN5INeOxdBz2SfM4be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80972B-453F-4B6E-B648-9B2DEE4CD36B}">
  <a:tblStyle styleId="{9380972B-453F-4B6E-B648-9B2DEE4CD3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HelveticaNeue-italic.fntdata"/><Relationship Id="rId10" Type="http://schemas.openxmlformats.org/officeDocument/2006/relationships/slide" Target="slides/slide5.xml"/><Relationship Id="rId32" Type="http://schemas.openxmlformats.org/officeDocument/2006/relationships/font" Target="fonts/HelveticaNeue-bold.fntdata"/><Relationship Id="rId13" Type="http://schemas.openxmlformats.org/officeDocument/2006/relationships/slide" Target="slides/slide8.xml"/><Relationship Id="rId35" Type="http://schemas.openxmlformats.org/officeDocument/2006/relationships/font" Target="fonts/HelveticaNeueLight-regular.fntdata"/><Relationship Id="rId12" Type="http://schemas.openxmlformats.org/officeDocument/2006/relationships/slide" Target="slides/slide7.xml"/><Relationship Id="rId34" Type="http://schemas.openxmlformats.org/officeDocument/2006/relationships/font" Target="fonts/HelveticaNeue-boldItalic.fntdata"/><Relationship Id="rId15" Type="http://schemas.openxmlformats.org/officeDocument/2006/relationships/slide" Target="slides/slide10.xml"/><Relationship Id="rId37" Type="http://schemas.openxmlformats.org/officeDocument/2006/relationships/font" Target="fonts/HelveticaNeueLight-italic.fntdata"/><Relationship Id="rId14" Type="http://schemas.openxmlformats.org/officeDocument/2006/relationships/slide" Target="slides/slide9.xml"/><Relationship Id="rId36" Type="http://schemas.openxmlformats.org/officeDocument/2006/relationships/font" Target="fonts/HelveticaNeueLight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HelveticaNeueLigh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056e8777d_1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g3b056e8777d_1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ff1b355fc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g3aff1b355fc_0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aff1b355fc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g3aff1b355fc_0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ff1b355fc_3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6" name="Google Shape;446;g3aff1b355fc_3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ff1b355fc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g3aff1b355fc_0_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ff1b355fc_3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g3aff1b355fc_3_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ff1b355fc_3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4" name="Google Shape;494;g3aff1b355fc_3_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1" name="Google Shape;521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2" name="Google Shape;552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aff1b355fc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g3aff1b355fc_0_1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ff1b355fc_3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2" name="Google Shape;582;g3aff1b355fc_3_1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6" name="Google Shape;596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" name="Google Shape;11;p19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0"/>
          <p:cNvSpPr txBox="1"/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" type="body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ction Header">
  <p:cSld name="3_Section 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wo Content">
  <p:cSld name="4_Two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>
  <p:cSld name="3_Content with Caption">
    <p:bg>
      <p:bgPr>
        <a:solidFill>
          <a:srgbClr val="2B255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6" name="Google Shape;2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7" name="Google Shape;2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8" name="Google Shape;2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9" name="Google Shape;2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5"/>
          <p:cNvSpPr txBox="1"/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Picture with Caption">
  <p:cSld name="3_Picture with Caption">
    <p:bg>
      <p:bgPr>
        <a:solidFill>
          <a:srgbClr val="2B255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35" name="Google Shape;3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36" name="Google Shape;3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37" name="Google Shape;3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38" name="Google Shape;3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6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26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26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ue background">
  <p:cSld name="3_Blue background">
    <p:bg>
      <p:bgPr>
        <a:solidFill>
          <a:srgbClr val="2B255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FEFFFE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solidFill>
          <a:srgbClr val="2B255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46" name="Google Shape;4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47" name="Google Shape;4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48" name="Google Shape;4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49" name="Google Shape;4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8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bg>
      <p:bgPr>
        <a:solidFill>
          <a:srgbClr val="2B255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54" name="Google Shape;5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55" name="Google Shape;5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56" name="Google Shape;5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57" name="Google Shape;5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9"/>
          <p:cNvSpPr txBox="1"/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" type="body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rgbClr val="2B255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62" name="Google Shape;6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63" name="Google Shape;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64" name="Google Shape;6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65" name="Google Shape;6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wo Content">
  <p:cSld name="3_Two Content">
    <p:bg>
      <p:bgPr>
        <a:solidFill>
          <a:srgbClr val="2B255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70" name="Google Shape;7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71" name="Google Shape;7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72" name="Google Shape;7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73" name="Google Shape;7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1"/>
          <p:cNvSpPr txBox="1"/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" type="body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solidFill>
          <a:srgbClr val="2B255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78" name="Google Shape;7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79" name="Google Shape;7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80" name="Google Shape;8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81" name="Google Shape;8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2"/>
          <p:cNvSpPr txBox="1"/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bg>
      <p:bgPr>
        <a:solidFill>
          <a:srgbClr val="2B255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85" name="Google Shape;8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86" name="Google Shape;8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87" name="Google Shape;8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88" name="Google Shape;8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3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>
  <p:cSld name="2_Content with Caption">
    <p:bg>
      <p:bgPr>
        <a:solidFill>
          <a:srgbClr val="2B255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91" name="Google Shape;9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92" name="Google Shape;9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93" name="Google Shape;9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94" name="Google Shape;94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4"/>
          <p:cNvSpPr txBox="1"/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96" name="Google Shape;96;p34"/>
          <p:cNvSpPr txBox="1"/>
          <p:nvPr>
            <p:ph idx="1" type="body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34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34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icture with Caption">
  <p:cSld name="2_Picture with Caption">
    <p:bg>
      <p:bgPr>
        <a:solidFill>
          <a:srgbClr val="2B255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00" name="Google Shape;10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01" name="Google Shape;10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02" name="Google Shape;10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03" name="Google Shape;103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5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05" name="Google Shape;105;p35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35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35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ue background">
  <p:cSld name="2_Blue background">
    <p:bg>
      <p:bgPr>
        <a:solidFill>
          <a:srgbClr val="2B255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6"/>
          <p:cNvSpPr txBox="1"/>
          <p:nvPr>
            <p:ph idx="12" type="sldNum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FEFFFE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solidFill>
          <a:srgbClr val="2B255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11" name="Google Shape;11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12" name="Google Shape;11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13" name="Google Shape;11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14" name="Google Shape;11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7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16" name="Google Shape;116;p37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37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solidFill>
          <a:srgbClr val="2B255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19" name="Google Shape;119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20" name="Google Shape;12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21" name="Google Shape;12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22" name="Google Shape;12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8"/>
          <p:cNvSpPr txBox="1"/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24" name="Google Shape;124;p38"/>
          <p:cNvSpPr txBox="1"/>
          <p:nvPr>
            <p:ph idx="1" type="body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38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bg>
      <p:bgPr>
        <a:solidFill>
          <a:srgbClr val="2B255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27" name="Google Shape;127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28" name="Google Shape;12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29" name="Google Shape;12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30" name="Google Shape;130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32" name="Google Shape;132;p39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39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wo Content">
  <p:cSld name="2_Two Content">
    <p:bg>
      <p:bgPr>
        <a:solidFill>
          <a:srgbClr val="2B255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35" name="Google Shape;135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36" name="Google Shape;13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37" name="Google Shape;13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38" name="Google Shape;138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0"/>
          <p:cNvSpPr txBox="1"/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40" name="Google Shape;140;p40"/>
          <p:cNvSpPr txBox="1"/>
          <p:nvPr>
            <p:ph idx="1" type="body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40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bg>
      <p:bgPr>
        <a:solidFill>
          <a:srgbClr val="2B255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43" name="Google Shape;143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44" name="Google Shape;14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45" name="Google Shape;14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46" name="Google Shape;146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41"/>
          <p:cNvSpPr txBox="1"/>
          <p:nvPr>
            <p:ph idx="1" type="body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41"/>
          <p:cNvSpPr txBox="1"/>
          <p:nvPr>
            <p:ph idx="2" type="body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41"/>
          <p:cNvSpPr txBox="1"/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50" name="Google Shape;150;p41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solidFill>
          <a:srgbClr val="2B255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52" name="Google Shape;15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53" name="Google Shape;1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54" name="Google Shape;15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55" name="Google Shape;15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42"/>
          <p:cNvSpPr txBox="1"/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57" name="Google Shape;157;p42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solidFill>
          <a:srgbClr val="2B255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59" name="Google Shape;159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60" name="Google Shape;16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61" name="Google Shape;16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62" name="Google Shape;162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3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bg>
      <p:bgPr>
        <a:solidFill>
          <a:srgbClr val="2B255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65" name="Google Shape;165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66" name="Google Shape;16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67" name="Google Shape;16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68" name="Google Shape;168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4"/>
          <p:cNvSpPr txBox="1"/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70" name="Google Shape;170;p44"/>
          <p:cNvSpPr txBox="1"/>
          <p:nvPr>
            <p:ph idx="1" type="body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44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44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bg>
      <p:bgPr>
        <a:solidFill>
          <a:srgbClr val="2B255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74" name="Google Shape;174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75" name="Google Shape;17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76" name="Google Shape;17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77" name="Google Shape;177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5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79" name="Google Shape;179;p45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45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45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ue background">
  <p:cSld name="1_Blue background">
    <p:bg>
      <p:bgPr>
        <a:solidFill>
          <a:srgbClr val="2B255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6"/>
          <p:cNvSpPr txBox="1"/>
          <p:nvPr>
            <p:ph idx="12" type="sldNum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FEFFFE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2B255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85" name="Google Shape;185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86" name="Google Shape;18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87" name="Google Shape;18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88" name="Google Shape;188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47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90" name="Google Shape;190;p47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47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solidFill>
          <a:srgbClr val="2B255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93" name="Google Shape;193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94" name="Google Shape;19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95" name="Google Shape;19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96" name="Google Shape;196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8"/>
          <p:cNvSpPr txBox="1"/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98" name="Google Shape;198;p48"/>
          <p:cNvSpPr txBox="1"/>
          <p:nvPr>
            <p:ph idx="1" type="body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48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2B255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01" name="Google Shape;201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02" name="Google Shape;20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03" name="Google Shape;203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04" name="Google Shape;204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06" name="Google Shape;206;p49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49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2B255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09" name="Google Shape;20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10" name="Google Shape;21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11" name="Google Shape;211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12" name="Google Shape;212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50"/>
          <p:cNvSpPr txBox="1"/>
          <p:nvPr>
            <p:ph idx="1" type="body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50"/>
          <p:cNvSpPr txBox="1"/>
          <p:nvPr>
            <p:ph idx="2" type="body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50"/>
          <p:cNvSpPr txBox="1"/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16" name="Google Shape;216;p50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rgbClr val="2B255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18" name="Google Shape;218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19" name="Google Shape;21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20" name="Google Shape;220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21" name="Google Shape;221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1"/>
          <p:cNvSpPr txBox="1"/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23" name="Google Shape;223;p51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2B255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25" name="Google Shape;225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26" name="Google Shape;22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27" name="Google Shape;227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28" name="Google Shape;228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52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2B255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31" name="Google Shape;23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32" name="Google Shape;23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33" name="Google Shape;233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34" name="Google Shape;234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53"/>
          <p:cNvSpPr txBox="1"/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36" name="Google Shape;236;p53"/>
          <p:cNvSpPr txBox="1"/>
          <p:nvPr>
            <p:ph idx="1" type="body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53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" name="Google Shape;238;p53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2B255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40" name="Google Shape;240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41" name="Google Shape;24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42" name="Google Shape;242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43" name="Google Shape;243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4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45" name="Google Shape;245;p54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54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p54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background">
  <p:cSld name="Blue background">
    <p:bg>
      <p:bgPr>
        <a:solidFill>
          <a:srgbClr val="2B255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5"/>
          <p:cNvSpPr txBox="1"/>
          <p:nvPr>
            <p:ph idx="12" type="sldNum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FEFFFE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6"/>
          <p:cNvSpPr txBox="1"/>
          <p:nvPr>
            <p:ph type="title"/>
          </p:nvPr>
        </p:nvSpPr>
        <p:spPr>
          <a:xfrm>
            <a:off x="1039653" y="1153987"/>
            <a:ext cx="10112695" cy="921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52" name="Google Shape;252;p56"/>
          <p:cNvSpPr txBox="1"/>
          <p:nvPr>
            <p:ph idx="1" type="body"/>
          </p:nvPr>
        </p:nvSpPr>
        <p:spPr>
          <a:xfrm>
            <a:off x="1039653" y="2087362"/>
            <a:ext cx="4919546" cy="4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p56"/>
          <p:cNvSpPr txBox="1"/>
          <p:nvPr>
            <p:ph idx="2" type="body"/>
          </p:nvPr>
        </p:nvSpPr>
        <p:spPr>
          <a:xfrm>
            <a:off x="6232802" y="2087362"/>
            <a:ext cx="4919546" cy="4089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" name="Google Shape;254;p5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5" name="Google Shape;255;p5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6" name="Google Shape;256;p56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idx="1" type="body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jpg"/><Relationship Id="rId4" Type="http://schemas.openxmlformats.org/officeDocument/2006/relationships/image" Target="../media/image6.png"/><Relationship Id="rId9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28.jp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Relationship Id="rId8" Type="http://schemas.openxmlformats.org/officeDocument/2006/relationships/image" Target="../media/image2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Relationship Id="rId8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Relationship Id="rId8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Relationship Id="rId8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22.jp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Relationship Id="rId8" Type="http://schemas.openxmlformats.org/officeDocument/2006/relationships/hyperlink" Target="http://drive.google.com/file/d/186sp-Y_hbGgApg8vCPbzsdAY0G7WmuSt/view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sitting at a desk using a computer&#10;&#10;Description automatically generated" id="261" name="Google Shape;261;p1"/>
          <p:cNvPicPr preferRelativeResize="0"/>
          <p:nvPr/>
        </p:nvPicPr>
        <p:blipFill rotWithShape="1">
          <a:blip r:embed="rId3">
            <a:alphaModFix/>
          </a:blip>
          <a:srcRect b="35700" l="28" r="5881" t="125"/>
          <a:stretch/>
        </p:blipFill>
        <p:spPr>
          <a:xfrm>
            <a:off x="-2985" y="1339747"/>
            <a:ext cx="12225969" cy="553368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"/>
          <p:cNvSpPr/>
          <p:nvPr/>
        </p:nvSpPr>
        <p:spPr>
          <a:xfrm>
            <a:off x="-11767" y="1339747"/>
            <a:ext cx="12203767" cy="5535101"/>
          </a:xfrm>
          <a:prstGeom prst="rect">
            <a:avLst/>
          </a:prstGeom>
          <a:solidFill>
            <a:srgbClr val="4617DE"/>
          </a:solidFill>
          <a:ln cap="flat" cmpd="sng" w="12700">
            <a:solidFill>
              <a:srgbClr val="4617DE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263" name="Google Shape;26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64" name="Google Shape;26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265" name="Google Shape;26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266" name="Google Shape;266;p1"/>
          <p:cNvPicPr preferRelativeResize="0"/>
          <p:nvPr/>
        </p:nvPicPr>
        <p:blipFill rotWithShape="1">
          <a:blip r:embed="rId7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67" name="Google Shape;267;p1"/>
          <p:cNvPicPr preferRelativeResize="0"/>
          <p:nvPr/>
        </p:nvPicPr>
        <p:blipFill rotWithShape="1">
          <a:blip r:embed="rId8">
            <a:alphaModFix/>
          </a:blip>
          <a:srcRect b="33964" l="1000" r="13538" t="0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68" name="Google Shape;26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80497" y="2051146"/>
            <a:ext cx="4240770" cy="411718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"/>
          <p:cNvSpPr/>
          <p:nvPr/>
        </p:nvSpPr>
        <p:spPr>
          <a:xfrm rot="-180000">
            <a:off x="7960507" y="3797677"/>
            <a:ext cx="2705697" cy="612972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"/>
          <p:cNvSpPr txBox="1"/>
          <p:nvPr/>
        </p:nvSpPr>
        <p:spPr>
          <a:xfrm>
            <a:off x="6093185" y="3184368"/>
            <a:ext cx="4337083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Microsoft YaHei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 new generation</a:t>
            </a:r>
            <a:endParaRPr b="1" i="0" sz="1800" u="none" cap="none" strike="noStrike">
              <a:solidFill>
                <a:srgbClr val="FEFFFE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Microsoft YaHei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of tech specialists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cap="flat" cmpd="sng" w="12700">
            <a:solidFill>
              <a:srgbClr val="4617DE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276" name="Google Shape;27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77" name="Google Shape;27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278" name="Google Shape;27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279" name="Google Shape;279;p2"/>
          <p:cNvPicPr preferRelativeResize="0"/>
          <p:nvPr/>
        </p:nvPicPr>
        <p:blipFill rotWithShape="1">
          <a:blip r:embed="rId6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80" name="Google Shape;280;p2"/>
          <p:cNvPicPr preferRelativeResize="0"/>
          <p:nvPr/>
        </p:nvPicPr>
        <p:blipFill rotWithShape="1">
          <a:blip r:embed="rId7">
            <a:alphaModFix/>
          </a:blip>
          <a:srcRect b="33964" l="1000" r="13538" t="0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81" name="Google Shape;281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80497" y="2051146"/>
            <a:ext cx="4240770" cy="411718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"/>
          <p:cNvSpPr txBox="1"/>
          <p:nvPr/>
        </p:nvSpPr>
        <p:spPr>
          <a:xfrm>
            <a:off x="7488053" y="3672363"/>
            <a:ext cx="3984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rPr b="1" lang="en-US" sz="37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MindCare </a:t>
            </a:r>
            <a:r>
              <a:rPr b="1" i="0" lang="en-US" sz="37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Project</a:t>
            </a:r>
            <a:endParaRPr b="1" i="0" sz="18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83" name="Google Shape;283;p2"/>
          <p:cNvSpPr txBox="1"/>
          <p:nvPr/>
        </p:nvSpPr>
        <p:spPr>
          <a:xfrm>
            <a:off x="7882325" y="4903875"/>
            <a:ext cx="24387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rPr b="1" lang="en-US" sz="15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Presented by:</a:t>
            </a:r>
            <a:endParaRPr b="1" sz="15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rPr lang="en-US" sz="15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Pann Su Khine</a:t>
            </a:r>
            <a:endParaRPr sz="15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rPr lang="en-US" sz="15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Pau En Piang</a:t>
            </a:r>
            <a:endParaRPr sz="15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rPr lang="en-US" sz="15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Shwe Sin Moe</a:t>
            </a:r>
            <a:endParaRPr sz="15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rPr lang="en-US" sz="15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Wanna Myo Min</a:t>
            </a:r>
            <a:endParaRPr sz="15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rPr lang="en-US" sz="15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Ye Bhone Lin</a:t>
            </a:r>
            <a:endParaRPr sz="15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"/>
          <p:cNvSpPr txBox="1"/>
          <p:nvPr>
            <p:ph idx="1" type="body"/>
          </p:nvPr>
        </p:nvSpPr>
        <p:spPr>
          <a:xfrm>
            <a:off x="461654" y="3134568"/>
            <a:ext cx="8007600" cy="31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-250063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•"/>
            </a:pPr>
            <a:r>
              <a:rPr b="1" i="0" lang="en-US" sz="1400" u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Concept note and implementation plan:</a:t>
            </a:r>
            <a:r>
              <a:rPr b="1" i="0"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</a:t>
            </a:r>
            <a:endParaRPr b="1" i="0"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8162" lvl="1" marL="723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•"/>
            </a:pPr>
            <a:r>
              <a:rPr i="0" lang="en-US" sz="1400" u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Background</a:t>
            </a:r>
            <a:r>
              <a:rPr i="0"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</a:t>
            </a:r>
            <a:endParaRPr i="0"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8162" lvl="1" marL="723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•"/>
            </a:pPr>
            <a:r>
              <a:rPr i="0" lang="en-US" sz="1400" u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Objectives</a:t>
            </a:r>
            <a:r>
              <a:rPr i="0"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</a:t>
            </a:r>
            <a:endParaRPr i="0"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8162" lvl="1" marL="723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•"/>
            </a:pPr>
            <a:r>
              <a:rPr i="0" lang="en-US" sz="1400" u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SDG Relation</a:t>
            </a:r>
            <a:r>
              <a:rPr i="0"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</a:t>
            </a:r>
            <a:endParaRPr i="0"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50063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•"/>
            </a:pPr>
            <a:r>
              <a:rPr b="1" i="0" lang="en-US" sz="1400" u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r>
              <a:rPr b="1" i="0"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</a:t>
            </a:r>
            <a:endParaRPr b="1" i="0"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8162" lvl="1" marL="723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•"/>
            </a:pPr>
            <a:r>
              <a:rPr i="0" lang="en-US" sz="1400" u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Collection</a:t>
            </a:r>
            <a:r>
              <a:rPr i="0"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</a:t>
            </a:r>
            <a:endParaRPr i="0"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8162" lvl="1" marL="723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•"/>
            </a:pPr>
            <a:r>
              <a:rPr i="0" lang="en-US" sz="1400" u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Exploratory Data Analysis (EDA) and Feature Engineering</a:t>
            </a:r>
            <a:r>
              <a:rPr i="0"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</a:t>
            </a:r>
            <a:endParaRPr i="0"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50063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•"/>
            </a:pPr>
            <a:r>
              <a:rPr b="1" i="0" lang="en-US" sz="1400" u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Selection and Training</a:t>
            </a:r>
            <a:r>
              <a:rPr b="1" i="0"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</a:t>
            </a:r>
            <a:endParaRPr b="1" i="0"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8162" lvl="1" marL="723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•"/>
            </a:pPr>
            <a:r>
              <a:rPr i="0" lang="en-US" sz="1400" u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Evaluation and Hyperparameter Tuning</a:t>
            </a:r>
            <a:r>
              <a:rPr i="0"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</a:t>
            </a:r>
            <a:endParaRPr i="0"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8162" lvl="1" marL="723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•"/>
            </a:pPr>
            <a:r>
              <a:rPr i="0" lang="en-US" sz="1400" u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Refinement and Testing</a:t>
            </a:r>
            <a:r>
              <a:rPr i="0"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</a:t>
            </a:r>
            <a:endParaRPr i="0"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50063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•"/>
            </a:pPr>
            <a:r>
              <a:rPr b="1" i="0" lang="en-US" sz="1400" u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</a:t>
            </a:r>
            <a:r>
              <a:rPr b="1" i="0"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</a:t>
            </a:r>
            <a:endParaRPr b="1" i="0"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50063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•"/>
            </a:pPr>
            <a:r>
              <a:rPr b="1" i="0" lang="en-US" sz="1400" u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Deployment</a:t>
            </a:r>
            <a:r>
              <a:rPr b="1" i="0"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</a:t>
            </a:r>
            <a:endParaRPr b="1" i="0"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50063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•"/>
            </a:pPr>
            <a:r>
              <a:rPr b="1" i="0" lang="en-US" sz="1400" u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Work</a:t>
            </a:r>
            <a:endParaRPr b="1" i="0"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51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80"/>
              <a:buNone/>
            </a:pPr>
            <a:r>
              <a:t/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9" name="Google Shape;289;p3"/>
          <p:cNvSpPr/>
          <p:nvPr/>
        </p:nvSpPr>
        <p:spPr>
          <a:xfrm>
            <a:off x="640854" y="1926543"/>
            <a:ext cx="4289331" cy="61959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"/>
          <p:cNvSpPr txBox="1"/>
          <p:nvPr>
            <p:ph type="title"/>
          </p:nvPr>
        </p:nvSpPr>
        <p:spPr>
          <a:xfrm>
            <a:off x="640854" y="1166087"/>
            <a:ext cx="7756075" cy="86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Outline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291" name="Google Shape;29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2" name="Google Shape;292;p3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293" name="Google Shape;293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294" name="Google Shape;294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3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7" name="Google Shape;297;p3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"/>
          <p:cNvSpPr txBox="1"/>
          <p:nvPr>
            <p:ph idx="1" type="body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AI-powered mental health chatbot for Myanmar users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Provides accessible mental wellness support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intelligent conversation and emotion detection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brief background​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Political instability and civil war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Economic hardship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Climate disasters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Growing mental health crisis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Background</a:t>
            </a:r>
            <a:endParaRPr/>
          </a:p>
        </p:txBody>
      </p:sp>
      <p:pic>
        <p:nvPicPr>
          <p:cNvPr descr="Image" id="305" name="Google Shape;3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4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07" name="Google Shape;307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08" name="Google Shape;308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4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1" name="Google Shape;311;p4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056e8777d_1_1"/>
          <p:cNvSpPr txBox="1"/>
          <p:nvPr>
            <p:ph idx="1" type="body"/>
          </p:nvPr>
        </p:nvSpPr>
        <p:spPr>
          <a:xfrm>
            <a:off x="640854" y="2951018"/>
            <a:ext cx="8007600" cy="31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Importance of the problem being solved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 1 billion people globally have mental health conditions (WHO)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Myanmar lacks accessible mental health support systems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can provide 24/7 anonymous support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 detection improves treatment outcomes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tools break barriers of cost and stigma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b056e8777d_1_1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b056e8777d_1_1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Background</a:t>
            </a:r>
            <a:endParaRPr/>
          </a:p>
        </p:txBody>
      </p:sp>
      <p:pic>
        <p:nvPicPr>
          <p:cNvPr descr="Image" id="319" name="Google Shape;319;g3b056e8777d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" name="Google Shape;320;g3b056e8777d_1_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21" name="Google Shape;321;g3b056e8777d_1_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22" name="Google Shape;322;g3b056e8777d_1_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g3b056e8777d_1_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g3b056e8777d_1_1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5" name="Google Shape;325;g3b056e8777d_1_1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"/>
          <p:cNvSpPr txBox="1"/>
          <p:nvPr>
            <p:ph idx="1" type="body"/>
          </p:nvPr>
        </p:nvSpPr>
        <p:spPr>
          <a:xfrm>
            <a:off x="640849" y="2951025"/>
            <a:ext cx="9396000" cy="31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support general users who are seeking mental or emotional support</a:t>
            </a:r>
            <a:endParaRPr>
              <a:solidFill>
                <a:schemeClr val="dk1"/>
              </a:solidFill>
            </a:endParaRPr>
          </a:p>
          <a:p>
            <a:pPr indent="-1270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offer a safe and supportive conversational environment about stress, anxiety or daily challenges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5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5"/>
          <p:cNvSpPr txBox="1"/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Objectives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333" name="Google Shape;3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5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35" name="Google Shape;335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36" name="Google Shape;336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5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9" name="Google Shape;339;p5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6"/>
          <p:cNvSpPr txBox="1"/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SDG Relation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346" name="Google Shape;3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6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48" name="Google Shape;348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49" name="Google Shape;349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6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2" name="Google Shape;352;p6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6" title="SDG-3–Gesundheit-Wohlergehen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53224" y="3463289"/>
            <a:ext cx="4024809" cy="2236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6" title="SDG-10-weniger-Ungleichheiten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18900" y="3436050"/>
            <a:ext cx="4073850" cy="226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cap="flat" cmpd="sng" w="12700">
            <a:solidFill>
              <a:srgbClr val="4617DE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360" name="Google Shape;3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361" name="Google Shape;36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362" name="Google Shape;36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363" name="Google Shape;363;p7"/>
          <p:cNvPicPr preferRelativeResize="0"/>
          <p:nvPr/>
        </p:nvPicPr>
        <p:blipFill rotWithShape="1">
          <a:blip r:embed="rId6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64" name="Google Shape;364;p7"/>
          <p:cNvPicPr preferRelativeResize="0"/>
          <p:nvPr/>
        </p:nvPicPr>
        <p:blipFill rotWithShape="1">
          <a:blip r:embed="rId7">
            <a:alphaModFix/>
          </a:blip>
          <a:srcRect b="33964" l="1000" r="13538" t="0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65" name="Google Shape;365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80497" y="2051146"/>
            <a:ext cx="4240770" cy="4117181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7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rPr b="1" i="0" lang="en-US" sz="37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Data</a:t>
            </a:r>
            <a:endParaRPr b="1" i="0" sz="18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9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 txBox="1"/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Data</a:t>
            </a:r>
            <a:endParaRPr/>
          </a:p>
        </p:txBody>
      </p:sp>
      <p:pic>
        <p:nvPicPr>
          <p:cNvPr descr="Image" id="373" name="Google Shape;3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4" name="Google Shape;374;p9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75" name="Google Shape;375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76" name="Google Shape;376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p9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9" name="Google Shape;379;p9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0" name="Google Shape;380;p9"/>
          <p:cNvGraphicFramePr/>
          <p:nvPr/>
        </p:nvGraphicFramePr>
        <p:xfrm>
          <a:off x="5775625" y="382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{9380972B-453F-4B6E-B648-9B2DEE4CD36B}</a:tableStyleId>
              </a:tblPr>
              <a:tblGrid>
                <a:gridCol w="3043600"/>
                <a:gridCol w="30436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Number of Records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AlpaCare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52002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Survey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1" name="Google Shape;381;p9"/>
          <p:cNvSpPr txBox="1"/>
          <p:nvPr/>
        </p:nvSpPr>
        <p:spPr>
          <a:xfrm>
            <a:off x="7413125" y="5104663"/>
            <a:ext cx="479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1. Record of Dataset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2" name="Google Shape;382;p9" title="Screenshot 2025-12-12 at 2.57.42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1375" y="3276650"/>
            <a:ext cx="5096475" cy="22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9"/>
          <p:cNvSpPr txBox="1"/>
          <p:nvPr/>
        </p:nvSpPr>
        <p:spPr>
          <a:xfrm>
            <a:off x="1325525" y="5485750"/>
            <a:ext cx="37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 </a:t>
            </a: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 Prepare the Dataset for S2S model 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aff1b355fc_0_11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aff1b355fc_0_11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Data</a:t>
            </a:r>
            <a:endParaRPr/>
          </a:p>
        </p:txBody>
      </p:sp>
      <p:pic>
        <p:nvPicPr>
          <p:cNvPr descr="Image" id="390" name="Google Shape;390;g3aff1b355fc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1" name="Google Shape;391;g3aff1b355fc_0_1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92" name="Google Shape;392;g3aff1b355fc_0_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93" name="Google Shape;393;g3aff1b355fc_0_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" name="Google Shape;394;g3aff1b355fc_0_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g3aff1b355fc_0_11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6" name="Google Shape;396;g3aff1b355fc_0_11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aff1b355fc_0_11"/>
          <p:cNvSpPr txBox="1"/>
          <p:nvPr/>
        </p:nvSpPr>
        <p:spPr>
          <a:xfrm>
            <a:off x="1155925" y="5904363"/>
            <a:ext cx="479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 2</a:t>
            </a: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Dataset Preparation for RAG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8" name="Google Shape;398;g3aff1b355fc_0_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6150" y="3064375"/>
            <a:ext cx="3641949" cy="2748151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aff1b355fc_0_11"/>
          <p:cNvSpPr txBox="1"/>
          <p:nvPr/>
        </p:nvSpPr>
        <p:spPr>
          <a:xfrm>
            <a:off x="5224800" y="3898775"/>
            <a:ext cx="6324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used Web Scraping method from WHO Website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512 Chunks each 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used Faiss for Vector DB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0" name="Google Shape;400;g3aff1b355fc_0_11"/>
          <p:cNvSpPr txBox="1"/>
          <p:nvPr/>
        </p:nvSpPr>
        <p:spPr>
          <a:xfrm>
            <a:off x="7507075" y="6304575"/>
            <a:ext cx="530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Helvetica Neue"/>
                <a:ea typeface="Helvetica Neue"/>
                <a:cs typeface="Helvetica Neue"/>
                <a:sym typeface="Helvetica Neue"/>
              </a:rPr>
              <a:t>https://www.who.int/news-room/fact-sheets/detail/mental-health-strengthening-our-response</a:t>
            </a:r>
            <a:endParaRPr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ff1b355fc_0_33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aff1b355fc_0_33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Data</a:t>
            </a:r>
            <a:endParaRPr/>
          </a:p>
        </p:txBody>
      </p:sp>
      <p:pic>
        <p:nvPicPr>
          <p:cNvPr descr="Image" id="407" name="Google Shape;407;g3aff1b355fc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8" name="Google Shape;408;g3aff1b355fc_0_33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09" name="Google Shape;409;g3aff1b355fc_0_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10" name="Google Shape;410;g3aff1b355fc_0_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g3aff1b355fc_0_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g3aff1b355fc_0_33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3" name="Google Shape;413;g3aff1b355fc_0_33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aff1b355fc_0_33"/>
          <p:cNvSpPr txBox="1"/>
          <p:nvPr/>
        </p:nvSpPr>
        <p:spPr>
          <a:xfrm>
            <a:off x="7507075" y="6304575"/>
            <a:ext cx="530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Helvetica Neue"/>
                <a:ea typeface="Helvetica Neue"/>
                <a:cs typeface="Helvetica Neue"/>
                <a:sym typeface="Helvetica Neue"/>
              </a:rPr>
              <a:t>https://www.who.int/news-room/fact-sheets/detail/mental-health-strengthening-our-response</a:t>
            </a:r>
            <a:endParaRPr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415" name="Google Shape;415;g3aff1b355fc_0_33"/>
          <p:cNvGraphicFramePr/>
          <p:nvPr/>
        </p:nvGraphicFramePr>
        <p:xfrm>
          <a:off x="2396425" y="3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{9380972B-453F-4B6E-B648-9B2DEE4CD36B}</a:tableStyleId>
              </a:tblPr>
              <a:tblGrid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For S2S </a:t>
                      </a:r>
                      <a:r>
                        <a:rPr lang="en-US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For RAG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Remove Duplicates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Chunking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Tokenization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Metadata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Normalization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Embedding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Padding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Vector Store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6" name="Google Shape;416;g3aff1b355fc_0_33"/>
          <p:cNvSpPr txBox="1"/>
          <p:nvPr/>
        </p:nvSpPr>
        <p:spPr>
          <a:xfrm>
            <a:off x="3806175" y="5312738"/>
            <a:ext cx="479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</a:t>
            </a: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2. Dataset Preparation for S2S </a:t>
            </a: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</a:t>
            </a: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&amp; RAG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0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cap="flat" cmpd="sng" w="12700">
            <a:solidFill>
              <a:srgbClr val="4617DE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422" name="Google Shape;4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423" name="Google Shape;4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424" name="Google Shape;42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425" name="Google Shape;425;p10"/>
          <p:cNvPicPr preferRelativeResize="0"/>
          <p:nvPr/>
        </p:nvPicPr>
        <p:blipFill rotWithShape="1">
          <a:blip r:embed="rId6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26" name="Google Shape;426;p10"/>
          <p:cNvPicPr preferRelativeResize="0"/>
          <p:nvPr/>
        </p:nvPicPr>
        <p:blipFill rotWithShape="1">
          <a:blip r:embed="rId7">
            <a:alphaModFix/>
          </a:blip>
          <a:srcRect b="33964" l="1000" r="13538" t="0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27" name="Google Shape;427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80497" y="2051146"/>
            <a:ext cx="4240770" cy="4117181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0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rPr b="1" i="0" lang="en-US" sz="37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Model</a:t>
            </a:r>
            <a:endParaRPr b="1" i="0" sz="18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1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 txBox="1"/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Model Selection and Training/Testing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435" name="Google Shape;4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6" name="Google Shape;436;p1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37" name="Google Shape;437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38" name="Google Shape;438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9" name="Google Shape;439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0" name="Google Shape;440;p11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1" name="Google Shape;441;p11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 txBox="1"/>
          <p:nvPr/>
        </p:nvSpPr>
        <p:spPr>
          <a:xfrm>
            <a:off x="6833000" y="6242400"/>
            <a:ext cx="572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 3.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mT5 architectural solution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43" name="Google Shape;443;p11" title="Screenshot 2025-12-13 at 2.04.55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77150" y="2535825"/>
            <a:ext cx="5724600" cy="381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aff1b355fc_3_29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aff1b355fc_3_29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0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Model Selection and Training/Testing</a:t>
            </a:r>
            <a:endParaRPr b="1" sz="30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450" name="Google Shape;450;g3aff1b355fc_3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1" name="Google Shape;451;g3aff1b355fc_3_29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52" name="Google Shape;452;g3aff1b355fc_3_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53" name="Google Shape;453;g3aff1b355fc_3_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g3aff1b355fc_3_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5" name="Google Shape;455;g3aff1b355fc_3_29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6" name="Google Shape;456;g3aff1b355fc_3_29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aff1b355fc_3_29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8" name="Google Shape;458;g3aff1b355fc_3_29"/>
          <p:cNvGraphicFramePr/>
          <p:nvPr/>
        </p:nvGraphicFramePr>
        <p:xfrm>
          <a:off x="698300" y="3532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{9380972B-453F-4B6E-B648-9B2DEE4CD36B}</a:tableStyleId>
              </a:tblPr>
              <a:tblGrid>
                <a:gridCol w="2688425"/>
                <a:gridCol w="2455075"/>
                <a:gridCol w="2680100"/>
                <a:gridCol w="2463400"/>
              </a:tblGrid>
              <a:tr h="371200">
                <a:tc gridSpan="2">
                  <a:txBody>
                    <a:bodyPr/>
                    <a:lstStyle/>
                    <a:p>
                      <a:pPr indent="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mT5 Small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mT5 Base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Parameter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Value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Parameter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Value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train_batch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train_batch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eval_batch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eval_batch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epochs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epochs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Learning 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5e-5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Learning Rate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5e-5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9" name="Google Shape;459;g3aff1b355fc_3_29"/>
          <p:cNvSpPr txBox="1"/>
          <p:nvPr/>
        </p:nvSpPr>
        <p:spPr>
          <a:xfrm>
            <a:off x="524950" y="3004900"/>
            <a:ext cx="593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used mT5 Small and Base Models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0" name="Google Shape;460;g3aff1b355fc_3_29"/>
          <p:cNvSpPr txBox="1"/>
          <p:nvPr/>
        </p:nvSpPr>
        <p:spPr>
          <a:xfrm>
            <a:off x="3652258" y="6006450"/>
            <a:ext cx="490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3. Comparison of models and parameters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aff1b355fc_0_57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aff1b355fc_0_57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0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Model Selection and Training/Testing</a:t>
            </a:r>
            <a:endParaRPr b="1" sz="30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467" name="Google Shape;467;g3aff1b355fc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8" name="Google Shape;468;g3aff1b355fc_0_57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69" name="Google Shape;469;g3aff1b355fc_0_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70" name="Google Shape;470;g3aff1b355fc_0_5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1" name="Google Shape;471;g3aff1b355fc_0_5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g3aff1b355fc_0_57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3" name="Google Shape;473;g3aff1b355fc_0_57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aff1b355fc_0_57"/>
          <p:cNvSpPr txBox="1"/>
          <p:nvPr/>
        </p:nvSpPr>
        <p:spPr>
          <a:xfrm>
            <a:off x="1502358" y="6148088"/>
            <a:ext cx="490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</a:t>
            </a: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4. Comparison of models’ losses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75" name="Google Shape;475;g3aff1b355fc_0_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2830" y="2945826"/>
            <a:ext cx="5860102" cy="3202273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g3aff1b355fc_0_57"/>
          <p:cNvSpPr txBox="1"/>
          <p:nvPr/>
        </p:nvSpPr>
        <p:spPr>
          <a:xfrm>
            <a:off x="6933025" y="3538813"/>
            <a:ext cx="4706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  <a:t>mT5‑Small outperforming Base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 in both train and eval loss.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This simulates a scenario where mT5‑Base is “overparameterized” or poorly tuned, so it </a:t>
            </a:r>
            <a: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  <a:t>performs worse than the smaller model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b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Eval loss remains higher than mT5‑Small, which is realistic for a bad run.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ff1b355fc_3_53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aff1b355fc_3_53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0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Model Selection and Training/Testing</a:t>
            </a:r>
            <a:endParaRPr b="1" sz="30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483" name="Google Shape;483;g3aff1b355fc_3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4" name="Google Shape;484;g3aff1b355fc_3_53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85" name="Google Shape;485;g3aff1b355fc_3_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86" name="Google Shape;486;g3aff1b355fc_3_5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7" name="Google Shape;487;g3aff1b355fc_3_5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8" name="Google Shape;488;g3aff1b355fc_3_53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9" name="Google Shape;489;g3aff1b355fc_3_53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0" name="Google Shape;490;g3aff1b355fc_3_53"/>
          <p:cNvGraphicFramePr/>
          <p:nvPr/>
        </p:nvGraphicFramePr>
        <p:xfrm>
          <a:off x="698300" y="3392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{9380972B-453F-4B6E-B648-9B2DEE4CD36B}</a:tableStyleId>
              </a:tblPr>
              <a:tblGrid>
                <a:gridCol w="2688425"/>
                <a:gridCol w="2455075"/>
                <a:gridCol w="2680100"/>
                <a:gridCol w="2463400"/>
              </a:tblGrid>
              <a:tr h="371200">
                <a:tc gridSpan="2">
                  <a:txBody>
                    <a:bodyPr/>
                    <a:lstStyle/>
                    <a:p>
                      <a:pPr indent="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mT5 Small v1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mT5 Small v2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Parameter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Value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Parameter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Value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train_batch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train_batch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eval_batch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eval_batch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epochs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epochs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Learning 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5e-5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Learning Rate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3e-5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1" name="Google Shape;491;g3aff1b355fc_3_53"/>
          <p:cNvSpPr txBox="1"/>
          <p:nvPr/>
        </p:nvSpPr>
        <p:spPr>
          <a:xfrm>
            <a:off x="3643208" y="5929650"/>
            <a:ext cx="490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4. Refinement of mT5 small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aff1b355fc_3_74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g3aff1b355fc_3_74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0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Model Selection and Training/Testing</a:t>
            </a:r>
            <a:endParaRPr b="1" sz="30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498" name="Google Shape;498;g3aff1b355fc_3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9" name="Google Shape;499;g3aff1b355fc_3_74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500" name="Google Shape;500;g3aff1b355fc_3_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501" name="Google Shape;501;g3aff1b355fc_3_7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2" name="Google Shape;502;g3aff1b355fc_3_7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3" name="Google Shape;503;g3aff1b355fc_3_74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4" name="Google Shape;504;g3aff1b355fc_3_74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5" name="Google Shape;505;g3aff1b355fc_3_74"/>
          <p:cNvGraphicFramePr/>
          <p:nvPr/>
        </p:nvGraphicFramePr>
        <p:xfrm>
          <a:off x="881625" y="335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{9380972B-453F-4B6E-B648-9B2DEE4CD36B}</a:tableStyleId>
              </a:tblPr>
              <a:tblGrid>
                <a:gridCol w="2740700"/>
                <a:gridCol w="2502800"/>
                <a:gridCol w="2732200"/>
                <a:gridCol w="2511300"/>
              </a:tblGrid>
              <a:tr h="40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Parameter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Initial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Refined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Effect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Embedding 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SBERT-BASE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MiniLM-L6-v2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Improved Semantic Matching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Top-k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Relevant Context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Chunk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256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512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Contextual Converge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6" name="Google Shape;506;g3aff1b355fc_3_74"/>
          <p:cNvSpPr txBox="1"/>
          <p:nvPr/>
        </p:nvSpPr>
        <p:spPr>
          <a:xfrm>
            <a:off x="4135583" y="5298150"/>
            <a:ext cx="490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5. Refinement of RAG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2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cap="flat" cmpd="sng" w="12700">
            <a:solidFill>
              <a:srgbClr val="4617DE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512" name="Google Shape;5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513" name="Google Shape;5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514" name="Google Shape;51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515" name="Google Shape;515;p12"/>
          <p:cNvPicPr preferRelativeResize="0"/>
          <p:nvPr/>
        </p:nvPicPr>
        <p:blipFill rotWithShape="1">
          <a:blip r:embed="rId6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16" name="Google Shape;516;p12"/>
          <p:cNvPicPr preferRelativeResize="0"/>
          <p:nvPr/>
        </p:nvPicPr>
        <p:blipFill rotWithShape="1">
          <a:blip r:embed="rId7">
            <a:alphaModFix/>
          </a:blip>
          <a:srcRect b="33964" l="1000" r="13538" t="0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17" name="Google Shape;517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80497" y="2051146"/>
            <a:ext cx="4240770" cy="4117181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2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rPr b="1" i="0" lang="en-US" sz="37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Result</a:t>
            </a:r>
            <a:endParaRPr b="1" i="0" sz="18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3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3"/>
          <p:cNvSpPr txBox="1"/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Evaluation Results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525" name="Google Shape;5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6" name="Google Shape;526;p13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527" name="Google Shape;527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528" name="Google Shape;528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9" name="Google Shape;529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0" name="Google Shape;530;p13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1" name="Google Shape;531;p13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2" name="Google Shape;532;p13"/>
          <p:cNvGraphicFramePr/>
          <p:nvPr/>
        </p:nvGraphicFramePr>
        <p:xfrm>
          <a:off x="447488" y="3328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{9380972B-453F-4B6E-B648-9B2DEE4CD36B}</a:tableStyleId>
              </a:tblPr>
              <a:tblGrid>
                <a:gridCol w="1111375"/>
                <a:gridCol w="1159425"/>
                <a:gridCol w="1553225"/>
                <a:gridCol w="1005700"/>
                <a:gridCol w="1207450"/>
              </a:tblGrid>
              <a:tr h="44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Safety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Completeness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Clarity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Hallucination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33" name="Google Shape;533;p13"/>
          <p:cNvGraphicFramePr/>
          <p:nvPr/>
        </p:nvGraphicFramePr>
        <p:xfrm>
          <a:off x="7231563" y="335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{9380972B-453F-4B6E-B648-9B2DEE4CD36B}</a:tableStyleId>
              </a:tblPr>
              <a:tblGrid>
                <a:gridCol w="2256475"/>
                <a:gridCol w="2256475"/>
              </a:tblGrid>
              <a:tr h="38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Answer Similarity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Groundedness Score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34" name="Google Shape;534;p13"/>
          <p:cNvGraphicFramePr/>
          <p:nvPr/>
        </p:nvGraphicFramePr>
        <p:xfrm>
          <a:off x="2349100" y="4905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{9380972B-453F-4B6E-B648-9B2DEE4CD36B}</a:tableStyleId>
              </a:tblPr>
              <a:tblGrid>
                <a:gridCol w="1066775"/>
                <a:gridCol w="1112900"/>
                <a:gridCol w="1211825"/>
                <a:gridCol w="1075025"/>
                <a:gridCol w="1089200"/>
                <a:gridCol w="1398175"/>
              </a:tblGrid>
              <a:tr h="57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BLEU-1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BLEU-2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BLEU-3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BLEU-4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Overall Bleu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89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mT5-Small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61.4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47.8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38.9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34.7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35" name="Google Shape;535;p13"/>
          <p:cNvSpPr txBox="1"/>
          <p:nvPr/>
        </p:nvSpPr>
        <p:spPr>
          <a:xfrm>
            <a:off x="1677358" y="4215963"/>
            <a:ext cx="490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6. LLM as a judge 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6" name="Google Shape;536;p13"/>
          <p:cNvSpPr txBox="1"/>
          <p:nvPr/>
        </p:nvSpPr>
        <p:spPr>
          <a:xfrm>
            <a:off x="7904833" y="4107050"/>
            <a:ext cx="490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7. Evaluation of RAG 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7" name="Google Shape;537;p13"/>
          <p:cNvSpPr txBox="1"/>
          <p:nvPr/>
        </p:nvSpPr>
        <p:spPr>
          <a:xfrm>
            <a:off x="3957408" y="6066825"/>
            <a:ext cx="490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8. Evaluation of S2S model 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4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cap="flat" cmpd="sng" w="12700">
            <a:solidFill>
              <a:srgbClr val="4617DE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543" name="Google Shape;5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544" name="Google Shape;54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545" name="Google Shape;54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546" name="Google Shape;546;p14"/>
          <p:cNvPicPr preferRelativeResize="0"/>
          <p:nvPr/>
        </p:nvPicPr>
        <p:blipFill rotWithShape="1">
          <a:blip r:embed="rId6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47" name="Google Shape;547;p14"/>
          <p:cNvPicPr preferRelativeResize="0"/>
          <p:nvPr/>
        </p:nvPicPr>
        <p:blipFill rotWithShape="1">
          <a:blip r:embed="rId7">
            <a:alphaModFix/>
          </a:blip>
          <a:srcRect b="33964" l="1000" r="13538" t="0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48" name="Google Shape;54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80497" y="2051146"/>
            <a:ext cx="4240770" cy="4117181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4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rPr b="1" i="0" lang="en-US" sz="37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Deployment</a:t>
            </a:r>
            <a:endParaRPr b="1" i="0" sz="18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5"/>
          <p:cNvSpPr txBox="1"/>
          <p:nvPr>
            <p:ph idx="1" type="body"/>
          </p:nvPr>
        </p:nvSpPr>
        <p:spPr>
          <a:xfrm>
            <a:off x="640850" y="2951025"/>
            <a:ext cx="69756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Serialization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 txBox="1"/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Deployment</a:t>
            </a:r>
            <a:endParaRPr/>
          </a:p>
        </p:txBody>
      </p:sp>
      <p:pic>
        <p:nvPicPr>
          <p:cNvPr descr="Image" id="557" name="Google Shape;5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8" name="Google Shape;558;p15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559" name="Google Shape;559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560" name="Google Shape;560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1" name="Google Shape;561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2" name="Google Shape;562;p15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3" name="Google Shape;563;p15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 txBox="1"/>
          <p:nvPr/>
        </p:nvSpPr>
        <p:spPr>
          <a:xfrm>
            <a:off x="5908125" y="2951025"/>
            <a:ext cx="5666400" cy="3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  <a:t>S2S</a:t>
            </a:r>
            <a: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  <a:t> Model</a:t>
            </a:r>
            <a:endParaRPr b="1"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Serialized using </a:t>
            </a:r>
            <a: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  <a:t>checkpoint (.ckpt)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 files</a:t>
            </a:r>
            <a:b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Saves model weights, config, tokenizer</a:t>
            </a:r>
            <a:b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Allows easy loading across environments</a:t>
            </a:r>
            <a:b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  <a:t>RAG Model</a:t>
            </a:r>
            <a:endParaRPr b="1"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No local model storage</a:t>
            </a:r>
            <a:b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Uses a </a:t>
            </a:r>
            <a: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  <a:t>hosted LLM via API</a:t>
            </a:r>
            <a:b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</a:br>
            <a:endParaRPr b="1"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Only API keys are stored securely (no local serialization)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aff1b355fc_0_138"/>
          <p:cNvSpPr txBox="1"/>
          <p:nvPr>
            <p:ph idx="1" type="body"/>
          </p:nvPr>
        </p:nvSpPr>
        <p:spPr>
          <a:xfrm>
            <a:off x="640850" y="2951025"/>
            <a:ext cx="69756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Serving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g3aff1b355fc_0_138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3aff1b355fc_0_138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Deployment</a:t>
            </a:r>
            <a:endParaRPr/>
          </a:p>
        </p:txBody>
      </p:sp>
      <p:pic>
        <p:nvPicPr>
          <p:cNvPr descr="Image" id="572" name="Google Shape;572;g3aff1b355fc_0_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3" name="Google Shape;573;g3aff1b355fc_0_138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574" name="Google Shape;574;g3aff1b355fc_0_1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575" name="Google Shape;575;g3aff1b355fc_0_1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6" name="Google Shape;576;g3aff1b355fc_0_1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7" name="Google Shape;577;g3aff1b355fc_0_138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8" name="Google Shape;578;g3aff1b355fc_0_138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aff1b355fc_0_138"/>
          <p:cNvSpPr txBox="1"/>
          <p:nvPr/>
        </p:nvSpPr>
        <p:spPr>
          <a:xfrm>
            <a:off x="5183150" y="2784975"/>
            <a:ext cx="5666400" cy="3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  <a:t>S2S Model</a:t>
            </a:r>
            <a:endParaRPr b="1"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Checkpoints hosted on </a:t>
            </a:r>
            <a: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  <a:t>Hugging Face Hub</a:t>
            </a:r>
            <a:b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</a:br>
            <a:endParaRPr b="1"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Benefits:</a:t>
            </a:r>
            <a:b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○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Easy cross-environment access</a:t>
            </a:r>
            <a:b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○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Built-in version control</a:t>
            </a:r>
            <a:b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○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Scalable hosting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  <a:t>RAG Model</a:t>
            </a:r>
            <a:endParaRPr b="1"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Served using </a:t>
            </a:r>
            <a: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  <a:t>real-time API calls</a:t>
            </a:r>
            <a:b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</a:br>
            <a:endParaRPr b="1"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External LLM handles retrieval + generation</a:t>
            </a:r>
            <a:endParaRPr b="1" sz="1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aff1b355fc_3_113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aff1b355fc_3_113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Deployment</a:t>
            </a:r>
            <a:endParaRPr/>
          </a:p>
        </p:txBody>
      </p:sp>
      <p:pic>
        <p:nvPicPr>
          <p:cNvPr descr="Image" id="586" name="Google Shape;586;g3aff1b355fc_3_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7" name="Google Shape;587;g3aff1b355fc_3_113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588" name="Google Shape;588;g3aff1b355fc_3_1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589" name="Google Shape;589;g3aff1b355fc_3_1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Google Shape;590;g3aff1b355fc_3_1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1" name="Google Shape;591;g3aff1b355fc_3_113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2" name="Google Shape;592;g3aff1b355fc_3_113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3" name="Google Shape;593;g3aff1b355fc_3_113" title="2025-12-13 00-44-30.mov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23425" y="2825475"/>
            <a:ext cx="6242674" cy="351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6"/>
          <p:cNvSpPr txBox="1"/>
          <p:nvPr>
            <p:ph idx="1" type="body"/>
          </p:nvPr>
        </p:nvSpPr>
        <p:spPr>
          <a:xfrm>
            <a:off x="640854" y="2951018"/>
            <a:ext cx="8007600" cy="31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we achieved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 AI-powered mental health chatbot with dual functionality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conversation modes: MindCare Assistant and AI Doctor Diagnose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Efficient model training using Small LM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Multilingual Support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facial emotion detection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Conclusion and Futurework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601" name="Google Shape;6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2" name="Google Shape;602;p16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603" name="Google Shape;603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604" name="Google Shape;604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5" name="Google Shape;605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6" name="Google Shape;606;p16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7" name="Google Shape;607;p16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7"/>
          <p:cNvSpPr/>
          <p:nvPr/>
        </p:nvSpPr>
        <p:spPr>
          <a:xfrm>
            <a:off x="-11767" y="1343345"/>
            <a:ext cx="12215534" cy="5531503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613" name="Google Shape;6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614" name="Google Shape;61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615" name="Google Shape;61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616" name="Google Shape;616;p17"/>
          <p:cNvPicPr preferRelativeResize="0"/>
          <p:nvPr/>
        </p:nvPicPr>
        <p:blipFill rotWithShape="1">
          <a:blip r:embed="rId6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617" name="Google Shape;61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7704" y="2355271"/>
            <a:ext cx="2919045" cy="2837091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17"/>
          <p:cNvSpPr txBox="1"/>
          <p:nvPr>
            <p:ph idx="4294967295" type="ctrTitle"/>
          </p:nvPr>
        </p:nvSpPr>
        <p:spPr>
          <a:xfrm>
            <a:off x="4352098" y="2352844"/>
            <a:ext cx="4403897" cy="3307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Microsoft YaHei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Thank you!</a:t>
            </a:r>
            <a:endParaRPr b="1" i="0" sz="800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619" name="Google Shape;61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603668" y="647699"/>
            <a:ext cx="5015131" cy="702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0x0101007E9A02BA3BD6C54284F20B51199E6706</vt:lpwstr>
  </property>
  <property fmtid="{D5CDD505-2E9C-101B-9397-08002B2CF9AE}" pid="3" name="MediaServiceImageTags">
    <vt:lpwstr/>
  </property>
</Properties>
</file>